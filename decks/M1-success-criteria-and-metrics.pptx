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6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262E"/>
                </a:solidFill>
                <a:latin typeface="Calibri"/>
              </a:rPr>
              <a:t>Same system, 70% success per trial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pass@k</c:v>
                </c:pt>
              </c:strCache>
            </c:strRef>
          </c:tx>
          <c:spPr>
            <a:solidFill>
              <a:srgbClr val="1C6B85"/>
            </a:solidFill>
            <a:ln w="38100" cap="flat">
              <a:solidFill>
                <a:srgbClr val="1C6B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6B85"/>
              </a:solidFill>
              <a:ln w="9525" cap="flat">
                <a:solidFill>
                  <a:srgbClr val="1C6B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70</c:v>
                </c:pt>
                <c:pt idx="1">
                  <c:v>91</c:v>
                </c:pt>
                <c:pt idx="2">
                  <c:v>97.3</c:v>
                </c:pt>
                <c:pt idx="3">
                  <c:v>99.2</c:v>
                </c:pt>
                <c:pt idx="4">
                  <c:v>99.8</c:v>
                </c:pt>
                <c:pt idx="5">
                  <c:v>99.9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pass^k</c:v>
                </c:pt>
              </c:strCache>
            </c:strRef>
          </c:tx>
          <c:spPr>
            <a:solidFill>
              <a:srgbClr val="A9691A"/>
            </a:solidFill>
            <a:ln w="38100" cap="flat">
              <a:solidFill>
                <a:srgbClr val="A969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9691A"/>
              </a:solidFill>
              <a:ln w="9525" cap="flat">
                <a:solidFill>
                  <a:srgbClr val="A969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70</c:v>
                </c:pt>
                <c:pt idx="1">
                  <c:v>49</c:v>
                </c:pt>
                <c:pt idx="2">
                  <c:v>34.3</c:v>
                </c:pt>
                <c:pt idx="3">
                  <c:v>24</c:v>
                </c:pt>
                <c:pt idx="4">
                  <c:v>16.8</c:v>
                </c:pt>
                <c:pt idx="5">
                  <c:v>11.8</c:v>
                </c:pt>
                <c:pt idx="6">
                  <c:v>8.2</c:v>
                </c:pt>
                <c:pt idx="7">
                  <c:v>5.8</c:v>
                </c:pt>
                <c:pt idx="8">
                  <c:v>4</c:v>
                </c:pt>
                <c:pt idx="9">
                  <c:v>2.8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F7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F76"/>
                    </a:solidFill>
                    <a:latin typeface="Arial"/>
                  </a:rPr>
                  <a:t>k (trials)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F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4EA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F7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6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262E"/>
                </a:solidFill>
                <a:latin typeface="Calibri"/>
              </a:rPr>
              <a:t>The mean sits below every number that hurts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time (ms)</c:v>
                </c:pt>
              </c:strCache>
            </c:strRef>
          </c:tx>
          <c:spPr>
            <a:solidFill>
              <a:srgbClr val="1C6B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C6F7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6B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D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6B8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691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p50</c:v>
                  </c:pt>
                  <c:pt idx="1">
                    <c:v>mean</c:v>
                  </c:pt>
                  <c:pt idx="2">
                    <c:v>p95</c:v>
                  </c:pt>
                  <c:pt idx="3">
                    <c:v>p99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400</c:v>
                </c:pt>
                <c:pt idx="1">
                  <c:v>780</c:v>
                </c:pt>
                <c:pt idx="2">
                  <c:v>2100</c:v>
                </c:pt>
                <c:pt idx="3">
                  <c:v>9000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C6F7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 establishes the vocabulary every later module reuses. The exam point of view: an architect defending a measurement choice, not a researcher optimising a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to state a criterion from their own work, then test it against all four properties. Most fail on measurable or achievable.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23760" y="1417320"/>
            <a:ext cx="44165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1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CERTIFIED ARCHITECT · PROFESSIONAL (CCAR-P)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Metrics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of 8 · Evaluation, Testing &amp; Optimisation (16% of the exam)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2514600" cy="420624"/>
          </a:xfrm>
          <a:prstGeom prst="roundRect">
            <a:avLst>
              <a:gd name="adj" fmla="val 17391"/>
            </a:avLst>
          </a:prstGeom>
          <a:solidFill>
            <a:srgbClr val="1F3A45"/>
          </a:solidFill>
          <a:ln w="12700">
            <a:solidFill>
              <a:srgbClr val="2C46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0916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statement 4.1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4709160"/>
            <a:ext cx="2514600" cy="420624"/>
          </a:xfrm>
          <a:prstGeom prst="roundRect">
            <a:avLst>
              <a:gd name="adj" fmla="val 17391"/>
            </a:avLst>
          </a:prstGeom>
          <a:solidFill>
            <a:srgbClr val="1F3A45"/>
          </a:solidFill>
          <a:ln w="12700">
            <a:solidFill>
              <a:srgbClr val="2C46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470916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topics · 1.5 hours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4709160"/>
            <a:ext cx="2514600" cy="420624"/>
          </a:xfrm>
          <a:prstGeom prst="roundRect">
            <a:avLst>
              <a:gd name="adj" fmla="val 17391"/>
            </a:avLst>
          </a:prstGeom>
          <a:solidFill>
            <a:srgbClr val="1F3A45"/>
          </a:solidFill>
          <a:ln w="12700">
            <a:solidFill>
              <a:srgbClr val="2C46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470916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ev-1-01 → ev-1-04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module sits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is worth about ten scored items. M1 covers the first of its six task statements — and supplies the vocabulary the other five reuse.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706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CCAR-P exam is Evaluation, Testing &amp; Optimisation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747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965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items, of 63 across seven domains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 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4223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per item — 63 items in 120 minutes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7296912" cy="566928"/>
          </a:xfrm>
          <a:prstGeom prst="roundRect">
            <a:avLst>
              <a:gd name="adj" fmla="val 9677"/>
            </a:avLst>
          </a:prstGeom>
          <a:solidFill>
            <a:srgbClr val="E3EEF2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21488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4E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148840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evaluation metrics — accuracy, latency, cost, safety, security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2862072"/>
            <a:ext cx="729691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28620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862072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evaluation datasets and test frameworks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575304"/>
            <a:ext cx="729691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357530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575304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A/B testing and iterative improvements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43400" y="4288536"/>
            <a:ext cx="729691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26280" y="428853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4288536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system issues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43400" y="5001768"/>
            <a:ext cx="729691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26280" y="500176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5001768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token usage, latency, cost trade-offs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43400" y="5715000"/>
            <a:ext cx="729691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26280" y="571500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5715000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performance with logging and observability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Success Criteria and Metrics    2/18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8216"/>
            <a:ext cx="310896" cy="310896"/>
          </a:xfrm>
          <a:prstGeom prst="ellipse">
            <a:avLst/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60704" y="1691640"/>
            <a:ext cx="9912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criteria that survive scrutiny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measurable, achievable, relevant — and fixed before the run, not after the result.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310896" cy="310896"/>
          </a:xfrm>
          <a:prstGeom prst="ellipse">
            <a:avLst/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2880360"/>
            <a:ext cx="9912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accuracy metric that fits the output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match, ROUGE-L, similarity, rubric — and recognise the aggregate that is lying to you.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105656"/>
            <a:ext cx="310896" cy="310896"/>
          </a:xfrm>
          <a:prstGeom prst="ellipse">
            <a:avLst/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4069080"/>
            <a:ext cx="9912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consistency metric the product needs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pass@k when one success is enough; pass^k when every run must be right.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294376"/>
            <a:ext cx="310896" cy="310896"/>
          </a:xfrm>
          <a:prstGeom prst="ellipse">
            <a:avLst/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60704" y="5257800"/>
            <a:ext cx="9912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latency, cost, safety and security as first-class axes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a unit, a method, a threshold, and a named owner.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Success Criteria and Metrics    3/18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ev-1-01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— SUCCESS CRITERIA THAT HOLD UP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properties of a criterion that works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68112" cy="1572768"/>
          </a:xfrm>
          <a:prstGeom prst="roundRect">
            <a:avLst>
              <a:gd name="adj" fmla="val 3488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01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4E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585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behaviour. Not "good performance" — "accurate sentiment classification".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68112" cy="1572768"/>
          </a:xfrm>
          <a:prstGeom prst="roundRect">
            <a:avLst>
              <a:gd name="adj" fmla="val 3488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801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4E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2585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quantitative metric, or a defined qualitative scale applied consistently alongside one.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468112" cy="1572768"/>
          </a:xfrm>
          <a:prstGeom prst="roundRect">
            <a:avLst>
              <a:gd name="adj" fmla="val 3488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5844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4E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Achievable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04164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industry results, prior experiments, or demonstrated model capability.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2200" y="3383280"/>
            <a:ext cx="5468112" cy="1572768"/>
          </a:xfrm>
          <a:prstGeom prst="roundRect">
            <a:avLst>
              <a:gd name="adj" fmla="val 3488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5844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4E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04164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its place here. Citation accuracy is critical for a medical assistant, overhead for a chatbot.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7EDDC"/>
          </a:solidFill>
          <a:ln w="12700">
            <a:solidFill>
              <a:srgbClr val="E8D6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properties, not five.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Anthropic’s documentation never uses the acronym SMART, and there is no "time-bound" criterion. Distractors are written from the source’s wording — so borrow the source’s wording.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Success Criteria and Metrics    4/18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ev-1-01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— SUCCESS CRITERIA THAT HOLD UP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Targets come in sets, not singles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production use cases need several criteria evaluated at once. A realistic target set for a claims triage assistant: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2402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≥ 0.85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86207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fidelity on the labelled set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2057400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3592" y="22402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86207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outputs non-toxic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2057400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2402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p95 &lt; 200 ms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286207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latency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15400" y="2057400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71432" y="22402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171432" y="286207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errors inconvenient, not critical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310896" cy="310896"/>
          </a:xfrm>
          <a:prstGeom prst="ellipse">
            <a:avLst/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" y="3977640"/>
            <a:ext cx="9912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severity is itself a criterion.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with identical accuracy can carry completely different risk. "90% of errors cause inconvenience rather than critical failure" is a target, not commentary.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5020056"/>
            <a:ext cx="310896" cy="310896"/>
          </a:xfrm>
          <a:prstGeom prst="ellipse">
            <a:avLst/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60704" y="4983480"/>
            <a:ext cx="9912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Criterion-referenced, always.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set against a fixed standard before the run. A threshold chosen after seeing the result is not a criterion — it is a description.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Success Criteria and Metrics    5/18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ev-1-01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— SUCCESS CRITERIA THAT HOLD UP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traps — criteria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82496"/>
            <a:ext cx="310896" cy="310896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1645920"/>
            <a:ext cx="991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single-axis target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stem states a cost, latency or safety constraint. The credited answer names the constraint the stem planted.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310896" cy="310896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2578608"/>
            <a:ext cx="991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"Time-bound", or the SMART framing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 as one of the properties. The source lists four and never uses the label.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47872"/>
            <a:ext cx="310896" cy="310896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60704" y="3511296"/>
            <a:ext cx="991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accuracy, zero hallucinations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unachievable against demonstrated capability — so the criterion is broken, however important the use case.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310896" cy="310896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480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" y="4443984"/>
            <a:ext cx="991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set after the first run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moved when the system misses it. Sounds pragmatic; fails criterion-referenced scoring.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413248"/>
            <a:ext cx="310896" cy="310896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413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" y="5376672"/>
            <a:ext cx="991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Adjectives with no scale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"professional", "helpful", "concise". Measurable needs a defined scale, not a better adjective.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Success Criteria and Metrics    6/18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ev-1-02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— CHOOSING AN ACCURACY METRIC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"Accuracy" is a category. Match the metric to the output.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627632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label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62763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E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627632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whitespace and case. An LLM judge here is over-engineering.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23744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9EE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523744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vs a reference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52374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E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 (F1 of LCS)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523744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overlap with the reference — not truth.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3419856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across paraphrases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41985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E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similarity, sentence embeddings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341985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agreement between answers, not correctness.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315968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9EE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431596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quality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431596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E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rubric, Likert 1–5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431596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ordinal scale; grading model separate from the generating one.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521208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property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3749040" y="521208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E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binary classification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521208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implicit and paraphrased cases a regex cannot.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14476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be task-specific, automate grading where possible, and prefer volume (50–1,000 cases) over per-item polish.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ev-1-02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— CHOOSING AN ACCURACY METRIC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aggregate that lies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663440" cy="2240280"/>
          </a:xfrm>
          <a:prstGeom prst="roundRect">
            <a:avLst>
              <a:gd name="adj" fmla="val 2449"/>
            </a:avLst>
          </a:prstGeom>
          <a:solidFill>
            <a:srgbClr val="F7EDDC"/>
          </a:solidFill>
          <a:ln w="12700">
            <a:solidFill>
              <a:srgbClr val="E8D6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8288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A96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5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432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— on a claims corpus where 5% are fraud, from a model that never once predicts fraud.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690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precision, recall and F1 per class. Then decide which of precision and recall the business is actually buying — they trade against each other, and the scenario decides.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577840" y="1645920"/>
            <a:ext cx="2880360" cy="3611880"/>
          </a:xfrm>
          <a:prstGeom prst="roundRect">
            <a:avLst>
              <a:gd name="adj" fmla="val 1905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33872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E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failure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833872" y="22860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clause extractor reports a non-compete that is not in the contract. Counsel wastes an hour proving a negative.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33872" y="41148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when every finding is acted 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41080" y="1645920"/>
            <a:ext cx="2880360" cy="3611880"/>
          </a:xfrm>
          <a:prstGeom prst="roundRect">
            <a:avLst>
              <a:gd name="adj" fmla="val 1905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97112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E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failure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897112" y="22860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extractor silently misses a real indemnity clause. Nobody discovers it until the dispute.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41148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when a miss is invisible downstream.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credited answer usually states the trade-off rather than promising both.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Success Criteria and Metrics    8/18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ev-1-02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— CHOOSING AN ACCURACY METRIC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traps — metrics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68112" cy="1152144"/>
          </a:xfrm>
          <a:prstGeom prst="roundRect">
            <a:avLst>
              <a:gd name="adj" fmla="val 4762"/>
            </a:avLst>
          </a:prstGeom>
          <a:solidFill>
            <a:srgbClr val="F4F7F8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920240"/>
            <a:ext cx="274320" cy="274320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883664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on imbalanced data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an option that "improves accuracy" without touching the minority class.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468112" cy="1152144"/>
          </a:xfrm>
          <a:prstGeom prst="roundRect">
            <a:avLst>
              <a:gd name="adj" fmla="val 4762"/>
            </a:avLst>
          </a:prstGeom>
          <a:solidFill>
            <a:srgbClr val="F4F7F8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9944" y="1920240"/>
            <a:ext cx="274320" cy="274320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9944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85432" y="1883664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 or embedding similarity as a truth check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measure overlap with a reference; a fluent fabrication scores well.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468112" cy="1152144"/>
          </a:xfrm>
          <a:prstGeom prst="roundRect">
            <a:avLst>
              <a:gd name="adj" fmla="val 4762"/>
            </a:avLst>
          </a:prstGeom>
          <a:solidFill>
            <a:srgbClr val="F4F7F8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291840"/>
            <a:ext cx="274320" cy="274320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3255264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judge where exact match settles it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dearer, less reproducible than the deterministic option.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3063240"/>
            <a:ext cx="5468112" cy="1152144"/>
          </a:xfrm>
          <a:prstGeom prst="roundRect">
            <a:avLst>
              <a:gd name="adj" fmla="val 4762"/>
            </a:avLst>
          </a:prstGeom>
          <a:solidFill>
            <a:srgbClr val="F4F7F8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3291840"/>
            <a:ext cx="274320" cy="274320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9944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85432" y="3255264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with the generating model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documented examples always use a separate instance.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5468112" cy="1152144"/>
          </a:xfrm>
          <a:prstGeom prst="roundRect">
            <a:avLst>
              <a:gd name="adj" fmla="val 4762"/>
            </a:avLst>
          </a:prstGeom>
          <a:solidFill>
            <a:srgbClr val="F4F7F8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4663440"/>
            <a:ext cx="274320" cy="274320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61872" y="4626864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"Fewer, higher-quality hand-graded examples"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documented preference is volume with automated grading.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4434840"/>
            <a:ext cx="5468112" cy="1152144"/>
          </a:xfrm>
          <a:prstGeom prst="roundRect">
            <a:avLst>
              <a:gd name="adj" fmla="val 4762"/>
            </a:avLst>
          </a:prstGeom>
          <a:solidFill>
            <a:srgbClr val="F4F7F8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9944" y="4663440"/>
            <a:ext cx="274320" cy="274320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9944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85432" y="4626864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and recall both improved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change to the system — name the trade instead.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Success Criteria and Metrics    9/18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ev-1-03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— CONSISTENCY METRICS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eval run, two opposite verdicts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4800600" cy="1783080"/>
          </a:xfrm>
          <a:prstGeom prst="roundRect">
            <a:avLst>
              <a:gd name="adj" fmla="val 3077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4E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pass@k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402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of k attempts succeeds.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for "one success is enough" — retries are cheap and safe.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4800600" cy="1783080"/>
          </a:xfrm>
          <a:prstGeom prst="roundRect">
            <a:avLst>
              <a:gd name="adj" fmla="val 3077"/>
            </a:avLst>
          </a:prstGeom>
          <a:solidFill>
            <a:srgbClr val="F7EDDC"/>
          </a:solidFill>
          <a:ln w="12700">
            <a:solidFill>
              <a:srgbClr val="E8D6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673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6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pass^k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24528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 attempts succeed.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for "this has to work every time" — unattended, irreversible, customer-facing.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5321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at k = 1. By k = 10 they are telling opposite stories about the same system.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760720" y="1627632"/>
          <a:ext cx="5897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760720" y="5669280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Illustrative: a task the system passes 70% of the time.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ev-1-03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— CONSISTENCY METRICS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 does the product actually need?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5468112" cy="3200400"/>
          </a:xfrm>
          <a:prstGeom prst="roundRect">
            <a:avLst>
              <a:gd name="adj" fmla="val 1714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105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pass@k systems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agent opens a pull request a human reviews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draft the user edits before sending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step where a retry costs cents and harms nobody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77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raise pass@k — so "retry on failure" is a real fix here.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627632"/>
            <a:ext cx="5468112" cy="3200400"/>
          </a:xfrm>
          <a:prstGeom prst="roundRect">
            <a:avLst>
              <a:gd name="adj" fmla="val 1714"/>
            </a:avLst>
          </a:prstGeom>
          <a:solidFill>
            <a:srgbClr val="F7EDDC"/>
          </a:solidFill>
          <a:ln w="12700">
            <a:solidFill>
              <a:srgbClr val="E8D6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8105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96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pass^k systems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331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unattended refund or payment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that reaches the customer with no review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merge to main, or anything irreversible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977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do not move pass^k — the ninth run that hallucinated already happened.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11496"/>
            <a:ext cx="274320" cy="274320"/>
          </a:xfrm>
          <a:prstGeom prst="ellipse">
            <a:avLst/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111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5074920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state k.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 rate with no trial count is uninterpretable, and rates measured at different k are not comparable.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5111496"/>
            <a:ext cx="274320" cy="274320"/>
          </a:xfrm>
          <a:prstGeom prst="ellipse">
            <a:avLst/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5111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47688" y="5074920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 each proves nothing.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single-trial comparison between two prompts is indistinguishable from run-to-run variance.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Success Criteria and Metrics    11/18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ev-1-03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— CONSISTENCY METRICS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traps — consistency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28216"/>
            <a:ext cx="310896" cy="310896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1691640"/>
            <a:ext cx="991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pass@k quoted for an unattended workflow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wrong-metric item — an irreversible action demands pass^k.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660904"/>
            <a:ext cx="310896" cy="310896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60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2624328"/>
            <a:ext cx="991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raised, then the better pass@k reported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though the system improved.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93592"/>
            <a:ext cx="310896" cy="310896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93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60704" y="3557016"/>
            <a:ext cx="991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 rate with no k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two results compared that were measured at different k.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310896" cy="310896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" y="4489704"/>
            <a:ext cx="991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Victory declared from one run of each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defect is the experimental design, not the prompt.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458968"/>
            <a:ext cx="310896" cy="310896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458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" y="5422392"/>
            <a:ext cx="991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automatic retries"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 for an agent that must be right the first time — it moves the metric that is not the requirement.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Success Criteria and Metrics    12/18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ev-1-04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— THE NON-ACCURACY AXES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axes, four ways to measure them wrongly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68112" cy="2057400"/>
          </a:xfrm>
          <a:prstGeom prst="roundRect">
            <a:avLst>
              <a:gd name="adj" fmla="val 2667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4E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585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Percentiles — p50, p95, p99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A96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mean, which hides the tail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468112" cy="2057400"/>
          </a:xfrm>
          <a:prstGeom prst="roundRect">
            <a:avLst>
              <a:gd name="adj" fmla="val 2667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4E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2585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resolved task or processed document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971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A96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token, or per API call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468112" cy="2057400"/>
          </a:xfrm>
          <a:prstGeom prst="roundRect">
            <a:avLst>
              <a:gd name="adj" fmla="val 2667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069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4E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5445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Unsafe-output rate, refusal correctness both ways, error severity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257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A96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one-time pre-launch review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3886200"/>
            <a:ext cx="5468112" cy="2057400"/>
          </a:xfrm>
          <a:prstGeom prst="roundRect">
            <a:avLst>
              <a:gd name="adj" fmla="val 2667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4069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4E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5445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resistance, leakage rate, tool-permission violations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5257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A96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and regex filters alone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Success Criteria and Metrics    13/18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ev-1-04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— THE NON-ACCURACY AXES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latencies, and why the mean is useless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4800600" cy="1645920"/>
          </a:xfrm>
          <a:prstGeom prst="roundRect">
            <a:avLst>
              <a:gd name="adj" fmla="val 3333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4E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to first token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945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whether the interface feels responsive. Streaming is a real fix here.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456432"/>
            <a:ext cx="4800600" cy="1645920"/>
          </a:xfrm>
          <a:prstGeom prst="roundRect">
            <a:avLst>
              <a:gd name="adj" fmla="val 3333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11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4E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latency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02336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 to a finished response. Streaming changes it not at all — a batch pipeline cares only about this.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578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target as a percentile: "95% of responses under 200 ms".</a:t>
            </a:r>
            <a:endParaRPr lang="en-US" sz="13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760720" y="1627632"/>
          <a:ext cx="58978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760720" y="5349240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distribution for a support assistant. A mean of 780 ms reports a healthy system; one call in a hundred takes nine seconds.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ev-1-04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— THE NON-ACCURACY AXES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per token is not cost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deflection, illustrative: a human-handled ticket costs $6.00. Both models are measured on the same 1,000 tickets.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468112" cy="3200400"/>
          </a:xfrm>
          <a:prstGeom prst="roundRect">
            <a:avLst>
              <a:gd name="adj" fmla="val 1714"/>
            </a:avLst>
          </a:prstGeom>
          <a:solidFill>
            <a:srgbClr val="F7EDDC"/>
          </a:solidFill>
          <a:ln w="12700">
            <a:solidFill>
              <a:srgbClr val="E8D6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6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Smaller model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$0.004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20954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call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20954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without a human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97764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96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$2.40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65429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ticket, all 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2011680"/>
            <a:ext cx="5468112" cy="3200400"/>
          </a:xfrm>
          <a:prstGeom prst="roundRect">
            <a:avLst>
              <a:gd name="adj" fmla="val 1714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4E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Larger model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$0.020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20954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call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9006840" y="320954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without a human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97764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34E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$0.92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65429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ticket, all 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7EDDC"/>
          </a:solidFill>
          <a:ln w="12700">
            <a:solidFill>
              <a:srgbClr val="E8D6B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smaller model: five times cheaper per call, two and a half times dearer per outcome.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Escalations, retries, judge calls and cache writes all belong in the figure.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ev-1-04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— THE NON-ACCURACY AXES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complete criteria table looks like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triage assistant — the artefact M1 asks you to produce. Every row has a unit, a method, and a name against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9202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9202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1920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195560" y="192024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228600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359152" y="228600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Macro-F1, per class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559552" y="228600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4E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662672" y="228600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300-case labelled suite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268712" y="2286000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lead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9EE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299923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359152" y="299923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p95, end to end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559552" y="299923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4E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662672" y="299923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traces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268712" y="299923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712464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371246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359152" y="371246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processed claim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559552" y="371246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4E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$0.05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662672" y="3712464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telemetry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268712" y="3712464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425696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9EE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" y="442569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359152" y="442569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mis-route rate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559552" y="442569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4E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662672" y="442569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Severity-labelled eval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0268712" y="4425696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138928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F1F7F9"/>
          </a:solidFill>
          <a:ln w="12700">
            <a:solidFill>
              <a:srgbClr val="E3EEF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1792" y="513892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2359152" y="513892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in stored logs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559552" y="513892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4E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monitored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662672" y="51389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binary classifier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0268712" y="513892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96188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fixed here — before the first run — and every one of them is checkable from a system that already exists.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ev-1-04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— THE NON-ACCURACY AXES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traps — latency, cost, safety, security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68112" cy="1152144"/>
          </a:xfrm>
          <a:prstGeom prst="roundRect">
            <a:avLst>
              <a:gd name="adj" fmla="val 4762"/>
            </a:avLst>
          </a:prstGeom>
          <a:solidFill>
            <a:srgbClr val="F4F7F8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920240"/>
            <a:ext cx="274320" cy="274320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883664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 or average latency target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percentile option is credited whenever a tail is described.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468112" cy="1152144"/>
          </a:xfrm>
          <a:prstGeom prst="roundRect">
            <a:avLst>
              <a:gd name="adj" fmla="val 4762"/>
            </a:avLst>
          </a:prstGeom>
          <a:solidFill>
            <a:srgbClr val="F4F7F8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9944" y="1920240"/>
            <a:ext cx="274320" cy="274320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9944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85432" y="1883664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"Enable streaming to reduce latency"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batch workload, where perceived responsiveness is irrelevant.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468112" cy="1152144"/>
          </a:xfrm>
          <a:prstGeom prst="roundRect">
            <a:avLst>
              <a:gd name="adj" fmla="val 4762"/>
            </a:avLst>
          </a:prstGeom>
          <a:solidFill>
            <a:srgbClr val="F4F7F8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291840"/>
            <a:ext cx="274320" cy="274320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3255264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stated per token or per call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downgrade justified on unit price while the resolution rate falls.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3063240"/>
            <a:ext cx="5468112" cy="1152144"/>
          </a:xfrm>
          <a:prstGeom prst="roundRect">
            <a:avLst>
              <a:gd name="adj" fmla="val 4762"/>
            </a:avLst>
          </a:prstGeom>
          <a:solidFill>
            <a:srgbClr val="F4F7F8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3291840"/>
            <a:ext cx="274320" cy="274320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9944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85432" y="3255264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 model without retries or judge calls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a saving the invoice will not show.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5468112" cy="1152144"/>
          </a:xfrm>
          <a:prstGeom prst="roundRect">
            <a:avLst>
              <a:gd name="adj" fmla="val 4762"/>
            </a:avLst>
          </a:prstGeom>
          <a:solidFill>
            <a:srgbClr val="F4F7F8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4663440"/>
            <a:ext cx="274320" cy="274320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61872" y="4626864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or keyword filtering as PII measurement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and paraphrased disclosures go straight past it.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4434840"/>
            <a:ext cx="5468112" cy="1152144"/>
          </a:xfrm>
          <a:prstGeom prst="roundRect">
            <a:avLst>
              <a:gd name="adj" fmla="val 4762"/>
            </a:avLst>
          </a:prstGeom>
          <a:solidFill>
            <a:srgbClr val="F4F7F8"/>
          </a:solidFill>
          <a:ln w="12700">
            <a:solidFill>
              <a:srgbClr val="E4EA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9944" y="4663440"/>
            <a:ext cx="274320" cy="274320"/>
          </a:xfrm>
          <a:prstGeom prst="ellipse">
            <a:avLst/>
          </a:prstGeom>
          <a:solidFill>
            <a:srgbClr val="A9691A"/>
          </a:solidFill>
          <a:ln w="12700">
            <a:solidFill>
              <a:srgbClr val="A9691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9944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85432" y="4626864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output driven to zero by refusing broadly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over-refusal is a safety failure too, and users notice it faster.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Success Criteria and Metrics    17/18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MOVE 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you should now be able to defend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76856"/>
            <a:ext cx="292608" cy="292608"/>
          </a:xfrm>
          <a:prstGeom prst="ellipse">
            <a:avLst/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42416" y="2240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your criterion is measurable and achievable 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A9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evidence set the threshold before the run.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118104"/>
            <a:ext cx="292608" cy="292608"/>
          </a:xfrm>
          <a:prstGeom prst="ellipse">
            <a:avLst/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308152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 accuracy metric fits this output 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A9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the aggregate would hide if the classes were imbalanced.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59352"/>
            <a:ext cx="292608" cy="292608"/>
          </a:xfrm>
          <a:prstGeom prst="ellipse">
            <a:avLst/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3922776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product needs pass@k or pass^k 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A9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k you measured at.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292608" cy="292608"/>
          </a:xfrm>
          <a:prstGeom prst="ellipse">
            <a:avLst/>
          </a:prstGeom>
          <a:solidFill>
            <a:srgbClr val="1C6B85"/>
          </a:solidFill>
          <a:ln w="12700">
            <a:solidFill>
              <a:srgbClr val="1C6B8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42416" y="4764024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cost and latency figures include 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A9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resolved task, at a percentile, with an owner against each axis.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M2: Eval datasets and harness design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— Success Criteria and Metrics</dc:title>
  <dc:subject>PptxGenJS Presentation</dc:subject>
  <dc:creator>CCAR-P eval engineering course</dc:creator>
  <cp:lastModifiedBy>CCAR-P eval engineering course</cp:lastModifiedBy>
  <cp:revision>1</cp:revision>
  <dcterms:created xsi:type="dcterms:W3CDTF">2026-09-16T19:07:39Z</dcterms:created>
  <dcterms:modified xsi:type="dcterms:W3CDTF">2026-09-16T19:07:39Z</dcterms:modified>
</cp:coreProperties>
</file>